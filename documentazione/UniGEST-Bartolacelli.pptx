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</p:sldMasterIdLst>
  <p:notesMasterIdLst>
    <p:notesMasterId r:id="rId22"/>
  </p:notesMasterIdLst>
  <p:sldIdLst>
    <p:sldId id="256" r:id="rId5"/>
    <p:sldId id="257" r:id="rId6"/>
    <p:sldId id="259" r:id="rId7"/>
    <p:sldId id="270" r:id="rId8"/>
    <p:sldId id="261" r:id="rId9"/>
    <p:sldId id="271" r:id="rId10"/>
    <p:sldId id="262" r:id="rId11"/>
    <p:sldId id="267" r:id="rId12"/>
    <p:sldId id="263" r:id="rId13"/>
    <p:sldId id="268" r:id="rId14"/>
    <p:sldId id="264" r:id="rId15"/>
    <p:sldId id="269" r:id="rId16"/>
    <p:sldId id="265" r:id="rId17"/>
    <p:sldId id="272" r:id="rId18"/>
    <p:sldId id="266" r:id="rId19"/>
    <p:sldId id="273" r:id="rId20"/>
    <p:sldId id="274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0C6FE1-24B3-4660-A391-5EC0002E2FA5}" v="62" dt="2025-07-10T15:08:30.2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F7543-FC4C-4F4F-B447-9E6509B28764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12266-87B5-4691-991A-33E82D815C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6319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2266-87B5-4691-991A-33E82D815C3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1472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69068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35346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28947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0773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38890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0488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5278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22669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8400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54475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205112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4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transition spd="slow">
    <p:wipe/>
  </p:transition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F528571D-A9AE-E0EA-388E-E2E1BC3C31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09" b="91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E6B65E1-D53F-DE8D-3E4F-2FE2B098D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978408"/>
            <a:ext cx="6606411" cy="2450592"/>
          </a:xfrm>
        </p:spPr>
        <p:txBody>
          <a:bodyPr anchor="t">
            <a:normAutofit/>
          </a:bodyPr>
          <a:lstStyle/>
          <a:p>
            <a:r>
              <a:rPr lang="it-IT" sz="6000" dirty="0" err="1">
                <a:solidFill>
                  <a:srgbClr val="FFFFFF"/>
                </a:solidFill>
              </a:rPr>
              <a:t>uniGEST</a:t>
            </a:r>
            <a:br>
              <a:rPr lang="it-IT" sz="6000" dirty="0">
                <a:solidFill>
                  <a:srgbClr val="FFFFFF"/>
                </a:solidFill>
              </a:rPr>
            </a:br>
            <a:r>
              <a:rPr lang="it-IT" sz="4400" dirty="0">
                <a:solidFill>
                  <a:srgbClr val="FFFFFF"/>
                </a:solidFill>
              </a:rPr>
              <a:t>Sviluppo </a:t>
            </a:r>
            <a:r>
              <a:rPr lang="it-IT" sz="4400" dirty="0" err="1">
                <a:solidFill>
                  <a:srgbClr val="FFFFFF"/>
                </a:solidFill>
              </a:rPr>
              <a:t>frontend</a:t>
            </a:r>
            <a:endParaRPr lang="it-IT" sz="4400" dirty="0">
              <a:solidFill>
                <a:srgbClr val="FFFFFF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B97A47A-962A-853C-469B-211A9CECA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it-IT" sz="2400" i="0" dirty="0">
                <a:solidFill>
                  <a:srgbClr val="FFFFFF"/>
                </a:solidFill>
              </a:rPr>
              <a:t>Mathias Bartolacelli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64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AD0396-05CB-6040-7419-820A0A6D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Struttura delle pagine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00B1E2-DA35-746E-4885-8AC171FCE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018" y="1859973"/>
            <a:ext cx="1768467" cy="499802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dirty="0" err="1"/>
              <a:t>frontend</a:t>
            </a:r>
            <a:r>
              <a:rPr lang="it-IT" dirty="0"/>
              <a:t>\ </a:t>
            </a:r>
            <a:br>
              <a:rPr lang="it-IT" dirty="0"/>
            </a:br>
            <a:r>
              <a:rPr lang="it-IT" dirty="0"/>
              <a:t>|-- assets\ </a:t>
            </a:r>
            <a:br>
              <a:rPr lang="it-IT" dirty="0"/>
            </a:br>
            <a:r>
              <a:rPr lang="it-IT" dirty="0"/>
              <a:t>|     |-- </a:t>
            </a:r>
            <a:r>
              <a:rPr lang="it-IT" dirty="0" err="1"/>
              <a:t>img</a:t>
            </a:r>
            <a:r>
              <a:rPr lang="it-IT" dirty="0"/>
              <a:t>\ </a:t>
            </a:r>
            <a:br>
              <a:rPr lang="it-IT" dirty="0"/>
            </a:br>
            <a:r>
              <a:rPr lang="it-IT" dirty="0"/>
              <a:t>|          |-- sfondoLogin.jpg </a:t>
            </a:r>
            <a:br>
              <a:rPr lang="it-IT" dirty="0"/>
            </a:br>
            <a:r>
              <a:rPr lang="it-IT" dirty="0"/>
              <a:t>|-- </a:t>
            </a:r>
            <a:r>
              <a:rPr lang="it-IT" dirty="0" err="1"/>
              <a:t>css</a:t>
            </a:r>
            <a:r>
              <a:rPr lang="it-IT" dirty="0"/>
              <a:t>\ </a:t>
            </a:r>
            <a:br>
              <a:rPr lang="it-IT" dirty="0"/>
            </a:br>
            <a:r>
              <a:rPr lang="it-IT" dirty="0"/>
              <a:t>|     |-- admin.css </a:t>
            </a:r>
            <a:br>
              <a:rPr lang="it-IT" dirty="0"/>
            </a:br>
            <a:r>
              <a:rPr lang="it-IT" dirty="0"/>
              <a:t>|     |-- chief.css </a:t>
            </a:r>
            <a:br>
              <a:rPr lang="it-IT" dirty="0"/>
            </a:br>
            <a:r>
              <a:rPr lang="it-IT" dirty="0"/>
              <a:t>|     |-- jolly.css</a:t>
            </a:r>
            <a:br>
              <a:rPr lang="it-IT" dirty="0"/>
            </a:br>
            <a:r>
              <a:rPr lang="it-IT" dirty="0"/>
              <a:t>|     |-- navbar.css </a:t>
            </a:r>
            <a:br>
              <a:rPr lang="it-IT" dirty="0"/>
            </a:br>
            <a:r>
              <a:rPr lang="it-IT" dirty="0"/>
              <a:t>|     |-- nuovaPratica.css </a:t>
            </a:r>
            <a:br>
              <a:rPr lang="it-IT" dirty="0"/>
            </a:br>
            <a:r>
              <a:rPr lang="it-IT" dirty="0"/>
              <a:t>|     |-- panel.css </a:t>
            </a:r>
            <a:br>
              <a:rPr lang="it-IT" dirty="0"/>
            </a:br>
            <a:r>
              <a:rPr lang="it-IT" dirty="0"/>
              <a:t>|-- </a:t>
            </a:r>
            <a:r>
              <a:rPr lang="it-IT" dirty="0" err="1"/>
              <a:t>js</a:t>
            </a:r>
            <a:r>
              <a:rPr lang="it-IT" dirty="0"/>
              <a:t>\ </a:t>
            </a:r>
            <a:br>
              <a:rPr lang="it-IT" dirty="0"/>
            </a:br>
            <a:r>
              <a:rPr lang="it-IT" dirty="0"/>
              <a:t>|    |-- loader.js </a:t>
            </a:r>
            <a:br>
              <a:rPr lang="it-IT" dirty="0"/>
            </a:br>
            <a:r>
              <a:rPr lang="it-IT" dirty="0"/>
              <a:t>|    |-- navbar.js </a:t>
            </a:r>
            <a:br>
              <a:rPr lang="it-IT" dirty="0"/>
            </a:br>
            <a:r>
              <a:rPr lang="it-IT" dirty="0"/>
              <a:t>|    |-- praticheAdmin.js </a:t>
            </a:r>
            <a:br>
              <a:rPr lang="it-IT" dirty="0"/>
            </a:br>
            <a:r>
              <a:rPr lang="it-IT" dirty="0"/>
              <a:t>|    |-- praticheChief.js </a:t>
            </a:r>
            <a:br>
              <a:rPr lang="it-IT" dirty="0"/>
            </a:br>
            <a:r>
              <a:rPr lang="it-IT" dirty="0"/>
              <a:t>|    |-- praticheJolly.js </a:t>
            </a:r>
            <a:br>
              <a:rPr lang="it-IT" dirty="0"/>
            </a:br>
            <a:r>
              <a:rPr lang="it-IT" dirty="0"/>
              <a:t>|    |-- praticheUser.js </a:t>
            </a:r>
            <a:br>
              <a:rPr lang="it-IT" dirty="0"/>
            </a:br>
            <a:r>
              <a:rPr lang="it-IT" dirty="0"/>
              <a:t>|    |-- token.js </a:t>
            </a:r>
            <a:br>
              <a:rPr lang="it-IT" dirty="0"/>
            </a:br>
            <a:r>
              <a:rPr lang="it-IT" dirty="0"/>
              <a:t>|    |-- utils.js </a:t>
            </a:r>
            <a:br>
              <a:rPr lang="it-IT" dirty="0"/>
            </a:br>
            <a:r>
              <a:rPr lang="it-IT" dirty="0"/>
              <a:t>|    |-- login.js</a:t>
            </a:r>
            <a:br>
              <a:rPr lang="it-IT" dirty="0"/>
            </a:br>
            <a:r>
              <a:rPr lang="it-IT" dirty="0"/>
              <a:t>|-- user\ </a:t>
            </a:r>
            <a:br>
              <a:rPr lang="it-IT" dirty="0"/>
            </a:br>
            <a:r>
              <a:rPr lang="it-IT" dirty="0"/>
              <a:t>|    |-- nuovaPratica.html </a:t>
            </a:r>
            <a:br>
              <a:rPr lang="it-IT" dirty="0"/>
            </a:br>
            <a:r>
              <a:rPr lang="it-IT" dirty="0"/>
              <a:t>|-- admin.html </a:t>
            </a:r>
            <a:br>
              <a:rPr lang="it-IT" dirty="0"/>
            </a:br>
            <a:r>
              <a:rPr lang="it-IT" dirty="0"/>
              <a:t>|-- chief.html </a:t>
            </a:r>
            <a:br>
              <a:rPr lang="it-IT" dirty="0"/>
            </a:br>
            <a:r>
              <a:rPr lang="it-IT" dirty="0"/>
              <a:t>|-- index.html </a:t>
            </a:r>
            <a:br>
              <a:rPr lang="it-IT" dirty="0"/>
            </a:br>
            <a:r>
              <a:rPr lang="it-IT" dirty="0"/>
              <a:t>|-- jolly.html </a:t>
            </a:r>
            <a:br>
              <a:rPr lang="it-IT" dirty="0"/>
            </a:br>
            <a:r>
              <a:rPr lang="it-IT" dirty="0"/>
              <a:t>|-- user.html </a:t>
            </a:r>
            <a:br>
              <a:rPr lang="it-IT" dirty="0"/>
            </a:br>
            <a:r>
              <a:rPr lang="it-IT" dirty="0"/>
              <a:t>|-- favicon.ico</a:t>
            </a:r>
            <a:br>
              <a:rPr lang="it-IT" dirty="0"/>
            </a:br>
            <a:r>
              <a:rPr lang="it-IT" dirty="0"/>
              <a:t>|-- .</a:t>
            </a:r>
            <a:r>
              <a:rPr lang="it-IT" dirty="0" err="1"/>
              <a:t>htaccess</a:t>
            </a:r>
            <a:endParaRPr lang="it-IT" dirty="0"/>
          </a:p>
        </p:txBody>
      </p:sp>
      <p:sp>
        <p:nvSpPr>
          <p:cNvPr id="4" name="Parentesi graffa chiusa 3">
            <a:extLst>
              <a:ext uri="{FF2B5EF4-FFF2-40B4-BE49-F238E27FC236}">
                <a16:creationId xmlns:a16="http://schemas.microsoft.com/office/drawing/2014/main" id="{E4F2A412-FF70-9B52-0259-4119DFE45BEB}"/>
              </a:ext>
            </a:extLst>
          </p:cNvPr>
          <p:cNvSpPr/>
          <p:nvPr/>
        </p:nvSpPr>
        <p:spPr>
          <a:xfrm>
            <a:off x="2418734" y="2094270"/>
            <a:ext cx="181899" cy="47194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Parentesi graffa chiusa 4">
            <a:extLst>
              <a:ext uri="{FF2B5EF4-FFF2-40B4-BE49-F238E27FC236}">
                <a16:creationId xmlns:a16="http://schemas.microsoft.com/office/drawing/2014/main" id="{428EADB7-7192-DDB7-95D6-AD15FCF3998C}"/>
              </a:ext>
            </a:extLst>
          </p:cNvPr>
          <p:cNvSpPr/>
          <p:nvPr/>
        </p:nvSpPr>
        <p:spPr>
          <a:xfrm>
            <a:off x="2418735" y="2566219"/>
            <a:ext cx="181900" cy="10225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entesi graffa chiusa 5">
            <a:extLst>
              <a:ext uri="{FF2B5EF4-FFF2-40B4-BE49-F238E27FC236}">
                <a16:creationId xmlns:a16="http://schemas.microsoft.com/office/drawing/2014/main" id="{BCC50285-842E-FA64-426F-F5955ED87165}"/>
              </a:ext>
            </a:extLst>
          </p:cNvPr>
          <p:cNvSpPr/>
          <p:nvPr/>
        </p:nvSpPr>
        <p:spPr>
          <a:xfrm>
            <a:off x="2433485" y="3588773"/>
            <a:ext cx="167148" cy="147159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entesi graffa chiusa 6">
            <a:extLst>
              <a:ext uri="{FF2B5EF4-FFF2-40B4-BE49-F238E27FC236}">
                <a16:creationId xmlns:a16="http://schemas.microsoft.com/office/drawing/2014/main" id="{ABF8F39C-7B0C-9550-8512-E66D8E38ADA1}"/>
              </a:ext>
            </a:extLst>
          </p:cNvPr>
          <p:cNvSpPr/>
          <p:nvPr/>
        </p:nvSpPr>
        <p:spPr>
          <a:xfrm>
            <a:off x="2418734" y="5060372"/>
            <a:ext cx="181899" cy="101875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A300F56-9B33-9643-D736-3D9A30E9F7F1}"/>
              </a:ext>
            </a:extLst>
          </p:cNvPr>
          <p:cNvSpPr txBox="1"/>
          <p:nvPr/>
        </p:nvSpPr>
        <p:spPr>
          <a:xfrm>
            <a:off x="2728453" y="2191744"/>
            <a:ext cx="1848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File di supporto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29B881D-3685-B464-61EF-C69CA1ABFB6F}"/>
              </a:ext>
            </a:extLst>
          </p:cNvPr>
          <p:cNvSpPr txBox="1"/>
          <p:nvPr/>
        </p:nvSpPr>
        <p:spPr>
          <a:xfrm>
            <a:off x="2728453" y="2937524"/>
            <a:ext cx="198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/>
              <a:t>File di stile</a:t>
            </a:r>
            <a:endParaRPr lang="it-IT" sz="1200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D46CC79-92B5-E75B-2B1A-5952AAEC8140}"/>
              </a:ext>
            </a:extLst>
          </p:cNvPr>
          <p:cNvSpPr txBox="1"/>
          <p:nvPr/>
        </p:nvSpPr>
        <p:spPr>
          <a:xfrm>
            <a:off x="2728453" y="4186072"/>
            <a:ext cx="273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File script lato client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9799AB7-B4A8-CFF2-74A9-CD6589B6C08B}"/>
              </a:ext>
            </a:extLst>
          </p:cNvPr>
          <p:cNvSpPr txBox="1"/>
          <p:nvPr/>
        </p:nvSpPr>
        <p:spPr>
          <a:xfrm>
            <a:off x="2728453" y="5431251"/>
            <a:ext cx="273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Pagine statiche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F5A271E-FD3E-1259-3E8C-F3DF18C16CEB}"/>
              </a:ext>
            </a:extLst>
          </p:cNvPr>
          <p:cNvSpPr txBox="1"/>
          <p:nvPr/>
        </p:nvSpPr>
        <p:spPr>
          <a:xfrm>
            <a:off x="2728453" y="6217781"/>
            <a:ext cx="273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/>
              <a:t>Reindirizzamento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00BBD111-F61B-64EA-0665-718DF19CD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840" y="1372431"/>
            <a:ext cx="587226" cy="5142669"/>
          </a:xfrm>
          <a:prstGeom prst="rect">
            <a:avLst/>
          </a:prstGeom>
        </p:spPr>
      </p:pic>
      <p:pic>
        <p:nvPicPr>
          <p:cNvPr id="20" name="Immagine 19" descr="Immagine che contiene testo, schermata, software, multimediale&#10;&#10;Il contenuto generato dall'IA potrebbe non essere corretto.">
            <a:extLst>
              <a:ext uri="{FF2B5EF4-FFF2-40B4-BE49-F238E27FC236}">
                <a16:creationId xmlns:a16="http://schemas.microsoft.com/office/drawing/2014/main" id="{A428426C-CCB7-0E2B-D814-8F62EC43F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969" y="1372431"/>
            <a:ext cx="1830743" cy="514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4770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D88FF-CB7C-7CA4-56AC-C0359DF26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1FB9FB-B65B-AD43-E953-88D053CE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Login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326E946-022C-C144-B539-C0A4F62A5D1E}"/>
              </a:ext>
            </a:extLst>
          </p:cNvPr>
          <p:cNvSpPr txBox="1"/>
          <p:nvPr/>
        </p:nvSpPr>
        <p:spPr>
          <a:xfrm>
            <a:off x="7927399" y="3632723"/>
            <a:ext cx="262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Diagramma delle attività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C3A09CD-9E4A-83A5-E2EE-8911CE1AAE72}"/>
              </a:ext>
            </a:extLst>
          </p:cNvPr>
          <p:cNvSpPr txBox="1"/>
          <p:nvPr/>
        </p:nvSpPr>
        <p:spPr>
          <a:xfrm>
            <a:off x="7079151" y="4678174"/>
            <a:ext cx="23980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POST /users/login</a:t>
            </a:r>
          </a:p>
          <a:p>
            <a:r>
              <a:rPr lang="it-IT" dirty="0"/>
              <a:t>Body</a:t>
            </a:r>
          </a:p>
          <a:p>
            <a:r>
              <a:rPr lang="it-IT" dirty="0"/>
              <a:t>{</a:t>
            </a:r>
          </a:p>
          <a:p>
            <a:r>
              <a:rPr lang="it-IT" dirty="0"/>
              <a:t>         email: ‘</a:t>
            </a:r>
            <a:r>
              <a:rPr lang="it-IT" dirty="0" err="1"/>
              <a:t>string</a:t>
            </a:r>
            <a:r>
              <a:rPr lang="it-IT" dirty="0"/>
              <a:t>’</a:t>
            </a:r>
            <a:br>
              <a:rPr lang="it-IT" dirty="0"/>
            </a:br>
            <a:r>
              <a:rPr lang="it-IT" dirty="0"/>
              <a:t>         password: ‘</a:t>
            </a:r>
            <a:r>
              <a:rPr lang="it-IT" dirty="0" err="1"/>
              <a:t>string</a:t>
            </a:r>
            <a:r>
              <a:rPr lang="it-IT" dirty="0"/>
              <a:t>’</a:t>
            </a:r>
          </a:p>
          <a:p>
            <a:r>
              <a:rPr lang="it-IT" dirty="0"/>
              <a:t>}</a:t>
            </a: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BEB2E33A-3C56-449A-2DB6-4A6144E9C1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45" t="14866" r="5580"/>
          <a:stretch>
            <a:fillRect/>
          </a:stretch>
        </p:blipFill>
        <p:spPr>
          <a:xfrm>
            <a:off x="701476" y="2196584"/>
            <a:ext cx="5548006" cy="2894962"/>
          </a:xfrm>
          <a:prstGeom prst="rect">
            <a:avLst/>
          </a:prstGeom>
        </p:spPr>
      </p:pic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03C003DF-AA36-83F2-C396-7EFE08D46EA7}"/>
              </a:ext>
            </a:extLst>
          </p:cNvPr>
          <p:cNvCxnSpPr/>
          <p:nvPr/>
        </p:nvCxnSpPr>
        <p:spPr>
          <a:xfrm>
            <a:off x="6585995" y="4366260"/>
            <a:ext cx="57965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D21F7C6F-5903-FB80-2641-F79D4D04D609}"/>
              </a:ext>
            </a:extLst>
          </p:cNvPr>
          <p:cNvCxnSpPr>
            <a:cxnSpLocks/>
          </p:cNvCxnSpPr>
          <p:nvPr/>
        </p:nvCxnSpPr>
        <p:spPr>
          <a:xfrm>
            <a:off x="6585995" y="1933596"/>
            <a:ext cx="0" cy="530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Immagine 4">
            <a:extLst>
              <a:ext uri="{FF2B5EF4-FFF2-40B4-BE49-F238E27FC236}">
                <a16:creationId xmlns:a16="http://schemas.microsoft.com/office/drawing/2014/main" id="{0DED5A03-568A-7FFB-938E-8B3DE242F0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312" y="1845046"/>
            <a:ext cx="4419456" cy="155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0252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32EA1-27EB-AA0C-88A7-C293F495A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61BFD0-493B-2CA0-6D46-7C1FA3D5B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Login</a:t>
            </a:r>
          </a:p>
        </p:txBody>
      </p:sp>
      <p:pic>
        <p:nvPicPr>
          <p:cNvPr id="5" name="Immagine 4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703FFCC8-00E6-B118-630A-F1AC5305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162"/>
          <a:stretch>
            <a:fillRect/>
          </a:stretch>
        </p:blipFill>
        <p:spPr>
          <a:xfrm>
            <a:off x="2766548" y="1895622"/>
            <a:ext cx="6658904" cy="319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03241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210EE-F03B-2F1D-7B54-501D6430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184EBD-E305-45B8-8740-8BADB9842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Visualizzazione pratiche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897CFA3-C89D-D08A-F1B7-B4B5E0F72E59}"/>
              </a:ext>
            </a:extLst>
          </p:cNvPr>
          <p:cNvSpPr txBox="1"/>
          <p:nvPr/>
        </p:nvSpPr>
        <p:spPr>
          <a:xfrm>
            <a:off x="7805344" y="3650207"/>
            <a:ext cx="262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Diagramma delle attività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82B31A9-167E-4276-5F53-0A9A5F96D94D}"/>
              </a:ext>
            </a:extLst>
          </p:cNvPr>
          <p:cNvSpPr txBox="1"/>
          <p:nvPr/>
        </p:nvSpPr>
        <p:spPr>
          <a:xfrm>
            <a:off x="7079151" y="4678174"/>
            <a:ext cx="35604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POST /pratiche/home</a:t>
            </a:r>
          </a:p>
          <a:p>
            <a:r>
              <a:rPr lang="it-IT" dirty="0" err="1"/>
              <a:t>Headers</a:t>
            </a:r>
            <a:endParaRPr lang="it-IT" dirty="0"/>
          </a:p>
          <a:p>
            <a:r>
              <a:rPr lang="it-IT" dirty="0"/>
              <a:t>{</a:t>
            </a:r>
          </a:p>
          <a:p>
            <a:r>
              <a:rPr lang="it-IT" dirty="0"/>
              <a:t>        </a:t>
            </a:r>
            <a:r>
              <a:rPr lang="it-IT" dirty="0" err="1"/>
              <a:t>Authorization</a:t>
            </a:r>
            <a:r>
              <a:rPr lang="it-IT" dirty="0"/>
              <a:t>: </a:t>
            </a:r>
            <a:r>
              <a:rPr lang="it-IT" dirty="0" err="1"/>
              <a:t>Bearer</a:t>
            </a:r>
            <a:r>
              <a:rPr lang="it-IT" dirty="0"/>
              <a:t> &lt;token&gt;</a:t>
            </a:r>
          </a:p>
          <a:p>
            <a:r>
              <a:rPr lang="it-IT" dirty="0"/>
              <a:t>}</a:t>
            </a:r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C2CA4606-D781-7F5F-66D9-EB7E6354DE32}"/>
              </a:ext>
            </a:extLst>
          </p:cNvPr>
          <p:cNvCxnSpPr>
            <a:cxnSpLocks/>
          </p:cNvCxnSpPr>
          <p:nvPr/>
        </p:nvCxnSpPr>
        <p:spPr>
          <a:xfrm>
            <a:off x="6585995" y="1933596"/>
            <a:ext cx="0" cy="530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9889633D-7CF5-C70D-AC15-8855FD9B8319}"/>
              </a:ext>
            </a:extLst>
          </p:cNvPr>
          <p:cNvCxnSpPr/>
          <p:nvPr/>
        </p:nvCxnSpPr>
        <p:spPr>
          <a:xfrm>
            <a:off x="6585995" y="4366260"/>
            <a:ext cx="57965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Immagine 2" descr="Immagine che contiene schermata, software, Software multimediale, testo&#10;&#10;Il contenuto generato dall'IA potrebbe non essere corretto.">
            <a:extLst>
              <a:ext uri="{FF2B5EF4-FFF2-40B4-BE49-F238E27FC236}">
                <a16:creationId xmlns:a16="http://schemas.microsoft.com/office/drawing/2014/main" id="{3821FD23-535C-54E0-0381-907AB20D7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50"/>
          <a:stretch>
            <a:fillRect/>
          </a:stretch>
        </p:blipFill>
        <p:spPr>
          <a:xfrm>
            <a:off x="883983" y="1766455"/>
            <a:ext cx="5364743" cy="2429625"/>
          </a:xfrm>
          <a:prstGeom prst="rect">
            <a:avLst/>
          </a:prstGeom>
        </p:spPr>
      </p:pic>
      <p:pic>
        <p:nvPicPr>
          <p:cNvPr id="6" name="Immagine 5" descr="Immagine che contiene diagramma, schizzo, linea, Piano&#10;&#10;Il contenuto generato dall'IA potrebbe non essere corretto.">
            <a:extLst>
              <a:ext uri="{FF2B5EF4-FFF2-40B4-BE49-F238E27FC236}">
                <a16:creationId xmlns:a16="http://schemas.microsoft.com/office/drawing/2014/main" id="{F6E32B22-CFD2-E5BE-998C-776D38B84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705" y="1624929"/>
            <a:ext cx="4921086" cy="193152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FBF0B0C-209F-0472-6A1E-54AD3A10CD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941"/>
          <a:stretch>
            <a:fillRect/>
          </a:stretch>
        </p:blipFill>
        <p:spPr>
          <a:xfrm>
            <a:off x="883982" y="4276239"/>
            <a:ext cx="5364744" cy="242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0494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20AE-6E64-FC30-0A6F-62CE42DFE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6EED06-9212-AF58-E0C8-ADA647A1A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Visualizzazione pratiche</a:t>
            </a:r>
          </a:p>
        </p:txBody>
      </p:sp>
      <p:pic>
        <p:nvPicPr>
          <p:cNvPr id="5" name="Immagine 4" descr="Immagine che contiene testo, schermat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8694DF82-E37B-3885-C2BA-E0157CC32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442" y="1783270"/>
            <a:ext cx="6735115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38714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B36D-4463-D382-0F55-78C43B2E3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A1FF12-113C-5EB9-8069-BDA9663DD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Creazione Nuova Pratica 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1821B95-F377-265C-4853-5AD146808F2B}"/>
              </a:ext>
            </a:extLst>
          </p:cNvPr>
          <p:cNvSpPr txBox="1"/>
          <p:nvPr/>
        </p:nvSpPr>
        <p:spPr>
          <a:xfrm>
            <a:off x="7976047" y="3650206"/>
            <a:ext cx="262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Diagramma delle attività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89ED2FD-FA40-A753-7AC9-1B40E7FDB741}"/>
              </a:ext>
            </a:extLst>
          </p:cNvPr>
          <p:cNvSpPr txBox="1"/>
          <p:nvPr/>
        </p:nvSpPr>
        <p:spPr>
          <a:xfrm>
            <a:off x="6665974" y="4573803"/>
            <a:ext cx="281827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GET /pratiche/</a:t>
            </a:r>
            <a:r>
              <a:rPr lang="it-IT" sz="1400" dirty="0" err="1"/>
              <a:t>getType</a:t>
            </a:r>
            <a:endParaRPr lang="it-IT" sz="1400" dirty="0"/>
          </a:p>
          <a:p>
            <a:r>
              <a:rPr lang="it-IT" sz="1400" dirty="0" err="1"/>
              <a:t>Headers</a:t>
            </a:r>
            <a:endParaRPr lang="it-IT" sz="1400" dirty="0"/>
          </a:p>
          <a:p>
            <a:r>
              <a:rPr lang="it-IT" sz="1400" dirty="0"/>
              <a:t>{</a:t>
            </a:r>
          </a:p>
          <a:p>
            <a:r>
              <a:rPr lang="it-IT" sz="1400" dirty="0"/>
              <a:t>        </a:t>
            </a:r>
            <a:r>
              <a:rPr lang="it-IT" sz="1400" dirty="0" err="1"/>
              <a:t>Authorization</a:t>
            </a:r>
            <a:r>
              <a:rPr lang="it-IT" sz="1400" dirty="0"/>
              <a:t>: </a:t>
            </a:r>
            <a:r>
              <a:rPr lang="it-IT" sz="1400" dirty="0" err="1"/>
              <a:t>Bearer</a:t>
            </a:r>
            <a:r>
              <a:rPr lang="it-IT" sz="1400" dirty="0"/>
              <a:t> &lt;token&gt;</a:t>
            </a:r>
          </a:p>
          <a:p>
            <a:r>
              <a:rPr lang="it-IT" sz="1400" dirty="0"/>
              <a:t>}</a:t>
            </a:r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B5A57432-BD48-CAF4-42BD-FF96496F54A9}"/>
              </a:ext>
            </a:extLst>
          </p:cNvPr>
          <p:cNvCxnSpPr>
            <a:cxnSpLocks/>
          </p:cNvCxnSpPr>
          <p:nvPr/>
        </p:nvCxnSpPr>
        <p:spPr>
          <a:xfrm>
            <a:off x="6585995" y="1903116"/>
            <a:ext cx="0" cy="530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D71CDA18-B86A-DD9B-0CAC-9EC3B076D6FC}"/>
              </a:ext>
            </a:extLst>
          </p:cNvPr>
          <p:cNvCxnSpPr/>
          <p:nvPr/>
        </p:nvCxnSpPr>
        <p:spPr>
          <a:xfrm>
            <a:off x="6585995" y="4366260"/>
            <a:ext cx="57965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Immagine 4" descr="Immagine che contiene schermata, software, Software multimediale, computer&#10;&#10;Il contenuto generato dall'IA potrebbe non essere corretto.">
            <a:extLst>
              <a:ext uri="{FF2B5EF4-FFF2-40B4-BE49-F238E27FC236}">
                <a16:creationId xmlns:a16="http://schemas.microsoft.com/office/drawing/2014/main" id="{B6A5A034-F82D-763F-33B4-483A6D2BB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87" r="791"/>
          <a:stretch>
            <a:fillRect/>
          </a:stretch>
        </p:blipFill>
        <p:spPr>
          <a:xfrm>
            <a:off x="521208" y="2688540"/>
            <a:ext cx="5868228" cy="2661995"/>
          </a:xfrm>
          <a:prstGeom prst="rect">
            <a:avLst/>
          </a:prstGeom>
        </p:spPr>
      </p:pic>
      <p:pic>
        <p:nvPicPr>
          <p:cNvPr id="10" name="Immagine 9" descr="Immagine che contiene diagramma, schermata, linea, Piano&#10;&#10;Il contenuto generato dall'IA potrebbe non essere corretto.">
            <a:extLst>
              <a:ext uri="{FF2B5EF4-FFF2-40B4-BE49-F238E27FC236}">
                <a16:creationId xmlns:a16="http://schemas.microsoft.com/office/drawing/2014/main" id="{D47D8A3C-844F-ABA5-3D2D-D475558F5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87"/>
          <a:stretch>
            <a:fillRect/>
          </a:stretch>
        </p:blipFill>
        <p:spPr>
          <a:xfrm>
            <a:off x="7325423" y="1372431"/>
            <a:ext cx="4317647" cy="2271026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3F69CBF-DC7A-5F1A-59AD-0728B9858347}"/>
              </a:ext>
            </a:extLst>
          </p:cNvPr>
          <p:cNvSpPr txBox="1"/>
          <p:nvPr/>
        </p:nvSpPr>
        <p:spPr>
          <a:xfrm>
            <a:off x="9377679" y="4573803"/>
            <a:ext cx="281432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POST /pratiche/</a:t>
            </a:r>
            <a:r>
              <a:rPr lang="it-IT" sz="1200" dirty="0" err="1"/>
              <a:t>createPratica</a:t>
            </a:r>
            <a:endParaRPr lang="it-IT" sz="1200" dirty="0"/>
          </a:p>
          <a:p>
            <a:r>
              <a:rPr lang="it-IT" sz="1200" dirty="0" err="1"/>
              <a:t>Headers</a:t>
            </a:r>
            <a:endParaRPr lang="it-IT" sz="1200" dirty="0"/>
          </a:p>
          <a:p>
            <a:r>
              <a:rPr lang="it-IT" sz="1200" dirty="0"/>
              <a:t>{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Authorization</a:t>
            </a:r>
            <a:r>
              <a:rPr lang="it-IT" sz="1200" dirty="0"/>
              <a:t>: </a:t>
            </a:r>
            <a:r>
              <a:rPr lang="it-IT" sz="1200" dirty="0" err="1"/>
              <a:t>Bearer</a:t>
            </a:r>
            <a:r>
              <a:rPr lang="it-IT" sz="1200" dirty="0"/>
              <a:t> &lt;token&gt;</a:t>
            </a:r>
          </a:p>
          <a:p>
            <a:r>
              <a:rPr lang="it-IT" sz="1200" dirty="0"/>
              <a:t>}</a:t>
            </a:r>
          </a:p>
          <a:p>
            <a:r>
              <a:rPr lang="it-IT" sz="1200" dirty="0"/>
              <a:t>Data</a:t>
            </a:r>
          </a:p>
          <a:p>
            <a:r>
              <a:rPr lang="it-IT" sz="1200" dirty="0"/>
              <a:t>{</a:t>
            </a:r>
          </a:p>
          <a:p>
            <a:r>
              <a:rPr lang="it-IT" sz="1200" dirty="0"/>
              <a:t>        Tipologia: ‘</a:t>
            </a:r>
            <a:r>
              <a:rPr lang="it-IT" sz="1200" dirty="0" err="1"/>
              <a:t>string</a:t>
            </a:r>
            <a:r>
              <a:rPr lang="it-IT" sz="1200" dirty="0"/>
              <a:t>’ </a:t>
            </a:r>
          </a:p>
          <a:p>
            <a:r>
              <a:rPr lang="it-IT" sz="1200" dirty="0"/>
              <a:t>        Descrizione: ‘</a:t>
            </a:r>
            <a:r>
              <a:rPr lang="it-IT" sz="1200" dirty="0" err="1"/>
              <a:t>string</a:t>
            </a:r>
            <a:r>
              <a:rPr lang="it-IT" sz="1200" dirty="0"/>
              <a:t>’</a:t>
            </a:r>
          </a:p>
          <a:p>
            <a:r>
              <a:rPr lang="it-IT" sz="1200" dirty="0"/>
              <a:t>        files[]: [&lt;formato&gt;]</a:t>
            </a:r>
          </a:p>
          <a:p>
            <a:r>
              <a:rPr lang="it-IT" sz="1200" dirty="0"/>
              <a:t>}</a:t>
            </a:r>
          </a:p>
          <a:p>
            <a:endParaRPr lang="it-IT" sz="1200" dirty="0"/>
          </a:p>
          <a:p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42444142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9CBD4-F47E-87A1-632E-F2F2046F4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12E425-2405-7F57-7E80-3097A755B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Creazione Nuova Pratica </a:t>
            </a:r>
          </a:p>
        </p:txBody>
      </p:sp>
      <p:pic>
        <p:nvPicPr>
          <p:cNvPr id="4" name="Immagine 3" descr="Immagine che contiene testo, diagramma, Parallelo, Piano&#10;&#10;Il contenuto generato dall'IA potrebbe non essere corretto.">
            <a:extLst>
              <a:ext uri="{FF2B5EF4-FFF2-40B4-BE49-F238E27FC236}">
                <a16:creationId xmlns:a16="http://schemas.microsoft.com/office/drawing/2014/main" id="{FAC71D4F-786F-377F-B468-1C68C8E78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501" y="1766455"/>
            <a:ext cx="4276998" cy="491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70982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12843-5979-B251-2D47-0372EA18C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E193FA-69EC-149E-3F6F-82DEEADBB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Assegnazione della pratica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6AADED8-066F-9EF1-2982-DDC096C76770}"/>
              </a:ext>
            </a:extLst>
          </p:cNvPr>
          <p:cNvSpPr txBox="1"/>
          <p:nvPr/>
        </p:nvSpPr>
        <p:spPr>
          <a:xfrm>
            <a:off x="7976047" y="3650206"/>
            <a:ext cx="262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Diagramma delle attività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DC35BFF-F4DC-A828-1BB0-0A42510269BD}"/>
              </a:ext>
            </a:extLst>
          </p:cNvPr>
          <p:cNvSpPr txBox="1"/>
          <p:nvPr/>
        </p:nvSpPr>
        <p:spPr>
          <a:xfrm>
            <a:off x="6744541" y="4573803"/>
            <a:ext cx="24304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/>
              <a:t>GET /pratiche/assegna</a:t>
            </a:r>
          </a:p>
          <a:p>
            <a:r>
              <a:rPr lang="it-IT" sz="1200" dirty="0" err="1"/>
              <a:t>Headers</a:t>
            </a:r>
            <a:endParaRPr lang="it-IT" sz="1200" dirty="0"/>
          </a:p>
          <a:p>
            <a:r>
              <a:rPr lang="it-IT" sz="1200" dirty="0"/>
              <a:t>{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Authorization</a:t>
            </a:r>
            <a:r>
              <a:rPr lang="it-IT" sz="1200" dirty="0"/>
              <a:t>: </a:t>
            </a:r>
            <a:r>
              <a:rPr lang="it-IT" sz="1200" dirty="0" err="1"/>
              <a:t>Bearer</a:t>
            </a:r>
            <a:r>
              <a:rPr lang="it-IT" sz="1200" dirty="0"/>
              <a:t> &lt;token&gt;</a:t>
            </a:r>
          </a:p>
          <a:p>
            <a:r>
              <a:rPr lang="it-IT" sz="1200" dirty="0"/>
              <a:t>}</a:t>
            </a:r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FF9E5917-FBD2-61E4-CD4D-2D669776FBD0}"/>
              </a:ext>
            </a:extLst>
          </p:cNvPr>
          <p:cNvCxnSpPr>
            <a:cxnSpLocks/>
          </p:cNvCxnSpPr>
          <p:nvPr/>
        </p:nvCxnSpPr>
        <p:spPr>
          <a:xfrm>
            <a:off x="6585995" y="1903116"/>
            <a:ext cx="0" cy="530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0BDFCD32-DF01-7AF4-63DC-157645182261}"/>
              </a:ext>
            </a:extLst>
          </p:cNvPr>
          <p:cNvCxnSpPr/>
          <p:nvPr/>
        </p:nvCxnSpPr>
        <p:spPr>
          <a:xfrm>
            <a:off x="6585995" y="4366260"/>
            <a:ext cx="57965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444C359-E4AB-1396-2762-F1CAC142A5D9}"/>
              </a:ext>
            </a:extLst>
          </p:cNvPr>
          <p:cNvSpPr txBox="1"/>
          <p:nvPr/>
        </p:nvSpPr>
        <p:spPr>
          <a:xfrm>
            <a:off x="9377679" y="4573803"/>
            <a:ext cx="281432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POST /pratiche/assegna</a:t>
            </a:r>
          </a:p>
          <a:p>
            <a:r>
              <a:rPr lang="it-IT" sz="1200" dirty="0" err="1"/>
              <a:t>Headers</a:t>
            </a:r>
            <a:endParaRPr lang="it-IT" sz="1200" dirty="0"/>
          </a:p>
          <a:p>
            <a:r>
              <a:rPr lang="it-IT" sz="1200" dirty="0"/>
              <a:t>{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Authorization</a:t>
            </a:r>
            <a:r>
              <a:rPr lang="it-IT" sz="1200" dirty="0"/>
              <a:t>: </a:t>
            </a:r>
            <a:r>
              <a:rPr lang="it-IT" sz="1200" dirty="0" err="1"/>
              <a:t>Bearer</a:t>
            </a:r>
            <a:r>
              <a:rPr lang="it-IT" sz="1200" dirty="0"/>
              <a:t> &lt;token&gt;</a:t>
            </a:r>
          </a:p>
          <a:p>
            <a:r>
              <a:rPr lang="it-IT" sz="1200" dirty="0"/>
              <a:t>}</a:t>
            </a:r>
          </a:p>
          <a:p>
            <a:r>
              <a:rPr lang="it-IT" sz="1200" dirty="0"/>
              <a:t>Data</a:t>
            </a:r>
          </a:p>
          <a:p>
            <a:r>
              <a:rPr lang="it-IT" sz="1200" dirty="0"/>
              <a:t>{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IdPratica</a:t>
            </a:r>
            <a:r>
              <a:rPr lang="it-IT" sz="1200" dirty="0"/>
              <a:t>: ‘</a:t>
            </a:r>
            <a:r>
              <a:rPr lang="it-IT" sz="1200" dirty="0" err="1"/>
              <a:t>int</a:t>
            </a:r>
            <a:r>
              <a:rPr lang="it-IT" sz="1200" dirty="0"/>
              <a:t>’                           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NPassaggio</a:t>
            </a:r>
            <a:r>
              <a:rPr lang="it-IT" sz="1200" dirty="0"/>
              <a:t>: ‘</a:t>
            </a:r>
            <a:r>
              <a:rPr lang="it-IT" sz="1200" dirty="0" err="1"/>
              <a:t>int</a:t>
            </a:r>
            <a:r>
              <a:rPr lang="it-IT" sz="1200" dirty="0"/>
              <a:t>’</a:t>
            </a:r>
          </a:p>
          <a:p>
            <a:r>
              <a:rPr lang="it-IT" sz="1200" dirty="0"/>
              <a:t>        Mail[]: [</a:t>
            </a:r>
            <a:r>
              <a:rPr lang="it-IT" sz="1200" dirty="0" err="1"/>
              <a:t>string</a:t>
            </a:r>
            <a:r>
              <a:rPr lang="it-IT" sz="1200" dirty="0"/>
              <a:t>]</a:t>
            </a:r>
          </a:p>
          <a:p>
            <a:r>
              <a:rPr lang="it-IT" sz="1200" dirty="0"/>
              <a:t>}</a:t>
            </a:r>
          </a:p>
          <a:p>
            <a:endParaRPr lang="it-IT" sz="1200" dirty="0"/>
          </a:p>
          <a:p>
            <a:endParaRPr lang="it-IT" sz="1200" dirty="0"/>
          </a:p>
        </p:txBody>
      </p:sp>
      <p:pic>
        <p:nvPicPr>
          <p:cNvPr id="7" name="Immagine 6" descr="Immagine che contiene diagramma, schizzo, Disegno tecnico, Piano&#10;&#10;Il contenuto generato dall'IA potrebbe non essere corretto.">
            <a:extLst>
              <a:ext uri="{FF2B5EF4-FFF2-40B4-BE49-F238E27FC236}">
                <a16:creationId xmlns:a16="http://schemas.microsoft.com/office/drawing/2014/main" id="{30383EB7-3D55-946D-40FE-73C45EADD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393" y="1695059"/>
            <a:ext cx="4502589" cy="1955147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6B827D0-F140-F38F-88AB-7D8A0E836F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68"/>
          <a:stretch>
            <a:fillRect/>
          </a:stretch>
        </p:blipFill>
        <p:spPr>
          <a:xfrm>
            <a:off x="517281" y="2655591"/>
            <a:ext cx="5989441" cy="272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3939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37110-E3CE-8507-D896-BCBAAD021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24DE1D-9843-C046-EF55-DE721F40A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Assegnazione della pratica</a:t>
            </a:r>
          </a:p>
        </p:txBody>
      </p:sp>
      <p:pic>
        <p:nvPicPr>
          <p:cNvPr id="4" name="Immagine 3" descr="Immagine che contiene testo, diagramma, Parallelo, ricevuta&#10;&#10;Il contenuto generato dall'IA potrebbe non essere corretto.">
            <a:extLst>
              <a:ext uri="{FF2B5EF4-FFF2-40B4-BE49-F238E27FC236}">
                <a16:creationId xmlns:a16="http://schemas.microsoft.com/office/drawing/2014/main" id="{5D33D248-FEC2-C6DB-7AAE-ADFD53199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314" y="1779079"/>
            <a:ext cx="4075321" cy="4483803"/>
          </a:xfrm>
          <a:prstGeom prst="rect">
            <a:avLst/>
          </a:prstGeom>
        </p:spPr>
      </p:pic>
      <p:pic>
        <p:nvPicPr>
          <p:cNvPr id="6" name="Immagine 5" descr="Immagine che contiene testo, diagramma, Parallelo, linea&#10;&#10;Il contenuto generato dall'IA potrebbe non essere corretto.">
            <a:extLst>
              <a:ext uri="{FF2B5EF4-FFF2-40B4-BE49-F238E27FC236}">
                <a16:creationId xmlns:a16="http://schemas.microsoft.com/office/drawing/2014/main" id="{0C0F5080-783F-C6D6-8AF5-B9CE4E533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626" y="1779079"/>
            <a:ext cx="4255814" cy="448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049804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38C97-2CAD-C98D-A371-FE7869F97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19E1A3-AFD5-1F2D-1FB3-40FB654D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Caricamento dei file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149ADB0-874E-6E8F-00B3-8DE29A03FCA5}"/>
              </a:ext>
            </a:extLst>
          </p:cNvPr>
          <p:cNvSpPr txBox="1"/>
          <p:nvPr/>
        </p:nvSpPr>
        <p:spPr>
          <a:xfrm>
            <a:off x="7976047" y="3650206"/>
            <a:ext cx="262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Diagramma delle attività</a:t>
            </a:r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230907E0-5442-F736-86B0-B7890D656ABE}"/>
              </a:ext>
            </a:extLst>
          </p:cNvPr>
          <p:cNvCxnSpPr>
            <a:cxnSpLocks/>
          </p:cNvCxnSpPr>
          <p:nvPr/>
        </p:nvCxnSpPr>
        <p:spPr>
          <a:xfrm>
            <a:off x="6585995" y="1903116"/>
            <a:ext cx="0" cy="530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590CB5DB-444E-D318-2CEC-565AB63BB060}"/>
              </a:ext>
            </a:extLst>
          </p:cNvPr>
          <p:cNvCxnSpPr/>
          <p:nvPr/>
        </p:nvCxnSpPr>
        <p:spPr>
          <a:xfrm>
            <a:off x="6585995" y="4366260"/>
            <a:ext cx="57965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152A739-1032-DFA3-BB18-59B04E044D44}"/>
              </a:ext>
            </a:extLst>
          </p:cNvPr>
          <p:cNvSpPr txBox="1"/>
          <p:nvPr/>
        </p:nvSpPr>
        <p:spPr>
          <a:xfrm>
            <a:off x="6859924" y="4557072"/>
            <a:ext cx="281432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POST /pratiche/</a:t>
            </a:r>
            <a:r>
              <a:rPr lang="it-IT" sz="1200" dirty="0" err="1"/>
              <a:t>add</a:t>
            </a:r>
            <a:endParaRPr lang="it-IT" sz="1200" dirty="0"/>
          </a:p>
          <a:p>
            <a:r>
              <a:rPr lang="it-IT" sz="1200" dirty="0" err="1"/>
              <a:t>Headers</a:t>
            </a:r>
            <a:endParaRPr lang="it-IT" sz="1200" dirty="0"/>
          </a:p>
          <a:p>
            <a:r>
              <a:rPr lang="it-IT" sz="1200" dirty="0"/>
              <a:t>{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Authorization</a:t>
            </a:r>
            <a:r>
              <a:rPr lang="it-IT" sz="1200" dirty="0"/>
              <a:t>: </a:t>
            </a:r>
            <a:r>
              <a:rPr lang="it-IT" sz="1200" dirty="0" err="1"/>
              <a:t>Bearer</a:t>
            </a:r>
            <a:r>
              <a:rPr lang="it-IT" sz="1200" dirty="0"/>
              <a:t> &lt;token&gt;</a:t>
            </a:r>
          </a:p>
          <a:p>
            <a:r>
              <a:rPr lang="it-IT" sz="1200" dirty="0"/>
              <a:t>}</a:t>
            </a:r>
          </a:p>
          <a:p>
            <a:r>
              <a:rPr lang="it-IT" sz="1200" dirty="0"/>
              <a:t>Data</a:t>
            </a:r>
          </a:p>
          <a:p>
            <a:r>
              <a:rPr lang="it-IT" sz="1200" dirty="0"/>
              <a:t>{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IdPratica</a:t>
            </a:r>
            <a:r>
              <a:rPr lang="it-IT" sz="1200" dirty="0"/>
              <a:t>: ‘</a:t>
            </a:r>
            <a:r>
              <a:rPr lang="it-IT" sz="1200" dirty="0" err="1"/>
              <a:t>int</a:t>
            </a:r>
            <a:r>
              <a:rPr lang="it-IT" sz="1200" dirty="0"/>
              <a:t>’                           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NPassaggio</a:t>
            </a:r>
            <a:r>
              <a:rPr lang="it-IT" sz="1200" dirty="0"/>
              <a:t>: ‘</a:t>
            </a:r>
            <a:r>
              <a:rPr lang="it-IT" sz="1200" dirty="0" err="1"/>
              <a:t>int</a:t>
            </a:r>
            <a:r>
              <a:rPr lang="it-IT" sz="1200" dirty="0"/>
              <a:t>’</a:t>
            </a:r>
          </a:p>
          <a:p>
            <a:r>
              <a:rPr lang="it-IT" sz="1200" dirty="0"/>
              <a:t>        files[]: [&lt;formato&gt;]</a:t>
            </a:r>
          </a:p>
          <a:p>
            <a:r>
              <a:rPr lang="it-IT" sz="1200" dirty="0"/>
              <a:t>}</a:t>
            </a:r>
          </a:p>
          <a:p>
            <a:endParaRPr lang="it-IT" sz="1200" dirty="0"/>
          </a:p>
          <a:p>
            <a:endParaRPr lang="it-IT" sz="12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7AD387D-4263-7EED-FDAE-689F900D5A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287"/>
          <a:stretch>
            <a:fillRect/>
          </a:stretch>
        </p:blipFill>
        <p:spPr>
          <a:xfrm>
            <a:off x="521208" y="2705570"/>
            <a:ext cx="5839343" cy="2627935"/>
          </a:xfrm>
          <a:prstGeom prst="rect">
            <a:avLst/>
          </a:prstGeom>
        </p:spPr>
      </p:pic>
      <p:pic>
        <p:nvPicPr>
          <p:cNvPr id="6" name="Immagine 5" descr="Immagine che contiene diagramma, linea, Piano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AE5B2AAF-524A-1B69-1997-4A1B1E7B7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541" y="1954257"/>
            <a:ext cx="5363323" cy="152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78794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185F3-EC3C-6ACF-6C19-6274D18E5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08BAB1-6C45-4835-4C4C-56A0A7EF7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Caricamento dei file</a:t>
            </a:r>
          </a:p>
        </p:txBody>
      </p:sp>
      <p:pic>
        <p:nvPicPr>
          <p:cNvPr id="5" name="Immagine 4" descr="Immagine che contiene diagramma, testo, Piano, Parallelo&#10;&#10;Il contenuto generato dall'IA potrebbe non essere corretto.">
            <a:extLst>
              <a:ext uri="{FF2B5EF4-FFF2-40B4-BE49-F238E27FC236}">
                <a16:creationId xmlns:a16="http://schemas.microsoft.com/office/drawing/2014/main" id="{5FB238EC-9961-ED50-3FDF-3A15AD2AF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707" y="1766455"/>
            <a:ext cx="4372585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2572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EB72-326A-4AF7-7662-C3FE320D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A9A178-BD3C-F951-FF10-E833AD940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Eliminazione delle pratiche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6226164-F51C-1481-53F7-4323EAD7BA9B}"/>
              </a:ext>
            </a:extLst>
          </p:cNvPr>
          <p:cNvSpPr txBox="1"/>
          <p:nvPr/>
        </p:nvSpPr>
        <p:spPr>
          <a:xfrm>
            <a:off x="7976047" y="3650206"/>
            <a:ext cx="262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Diagramma delle attività</a:t>
            </a:r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8C50D16E-891A-E90F-8FD2-D90F8B73376D}"/>
              </a:ext>
            </a:extLst>
          </p:cNvPr>
          <p:cNvCxnSpPr>
            <a:cxnSpLocks/>
          </p:cNvCxnSpPr>
          <p:nvPr/>
        </p:nvCxnSpPr>
        <p:spPr>
          <a:xfrm>
            <a:off x="6585995" y="1903116"/>
            <a:ext cx="0" cy="530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27177724-2D62-A2C4-F733-219C066B83A3}"/>
              </a:ext>
            </a:extLst>
          </p:cNvPr>
          <p:cNvCxnSpPr/>
          <p:nvPr/>
        </p:nvCxnSpPr>
        <p:spPr>
          <a:xfrm>
            <a:off x="6585995" y="4366260"/>
            <a:ext cx="57965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D66F60B-B1FA-830F-EB96-5AB681717EC7}"/>
              </a:ext>
            </a:extLst>
          </p:cNvPr>
          <p:cNvSpPr txBox="1"/>
          <p:nvPr/>
        </p:nvSpPr>
        <p:spPr>
          <a:xfrm>
            <a:off x="6859924" y="4557072"/>
            <a:ext cx="281432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DELETE /pratiche/cancellazione</a:t>
            </a:r>
          </a:p>
          <a:p>
            <a:r>
              <a:rPr lang="it-IT" sz="1200" dirty="0" err="1"/>
              <a:t>Headers</a:t>
            </a:r>
            <a:endParaRPr lang="it-IT" sz="1200" dirty="0"/>
          </a:p>
          <a:p>
            <a:r>
              <a:rPr lang="it-IT" sz="1200" dirty="0"/>
              <a:t>{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Authorization</a:t>
            </a:r>
            <a:r>
              <a:rPr lang="it-IT" sz="1200" dirty="0"/>
              <a:t>: </a:t>
            </a:r>
            <a:r>
              <a:rPr lang="it-IT" sz="1200" dirty="0" err="1"/>
              <a:t>Bearer</a:t>
            </a:r>
            <a:r>
              <a:rPr lang="it-IT" sz="1200" dirty="0"/>
              <a:t> &lt;token&gt;</a:t>
            </a:r>
          </a:p>
          <a:p>
            <a:r>
              <a:rPr lang="it-IT" sz="1200" dirty="0"/>
              <a:t>}</a:t>
            </a:r>
          </a:p>
          <a:p>
            <a:r>
              <a:rPr lang="it-IT" sz="1200" dirty="0"/>
              <a:t>Data</a:t>
            </a:r>
          </a:p>
          <a:p>
            <a:r>
              <a:rPr lang="it-IT" sz="1200" dirty="0"/>
              <a:t>{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IdPratica</a:t>
            </a:r>
            <a:r>
              <a:rPr lang="it-IT" sz="1200" dirty="0"/>
              <a:t>: ‘</a:t>
            </a:r>
            <a:r>
              <a:rPr lang="it-IT" sz="1200" dirty="0" err="1"/>
              <a:t>int</a:t>
            </a:r>
            <a:r>
              <a:rPr lang="it-IT" sz="1200" dirty="0"/>
              <a:t>’</a:t>
            </a:r>
          </a:p>
          <a:p>
            <a:r>
              <a:rPr lang="it-IT" sz="1200" dirty="0"/>
              <a:t>}</a:t>
            </a:r>
          </a:p>
          <a:p>
            <a:endParaRPr lang="it-IT" sz="1200" dirty="0"/>
          </a:p>
          <a:p>
            <a:endParaRPr lang="it-IT" sz="12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6BBB878-786F-E7E1-A050-2F44118FA0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88"/>
          <a:stretch>
            <a:fillRect/>
          </a:stretch>
        </p:blipFill>
        <p:spPr>
          <a:xfrm>
            <a:off x="521208" y="2687404"/>
            <a:ext cx="5906242" cy="2664267"/>
          </a:xfrm>
          <a:prstGeom prst="rect">
            <a:avLst/>
          </a:prstGeom>
        </p:spPr>
      </p:pic>
      <p:pic>
        <p:nvPicPr>
          <p:cNvPr id="10" name="Immagine 9" descr="Immagine che contiene diagramma, linea, schizzo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09947106-F82E-A322-84A9-AC52F5756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327" y="1766455"/>
            <a:ext cx="5045709" cy="19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9354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D068-4F5D-A13D-0EE9-F6D9BD35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C77D08-0856-C4A5-7C35-6E4CB3D54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Eliminazione delle pratiche</a:t>
            </a:r>
          </a:p>
        </p:txBody>
      </p:sp>
      <p:pic>
        <p:nvPicPr>
          <p:cNvPr id="4" name="Immagine 3" descr="Immagine che contiene testo, diagramma, Parallelo, schermata&#10;&#10;Il contenuto generato dall'IA potrebbe non essere corretto.">
            <a:extLst>
              <a:ext uri="{FF2B5EF4-FFF2-40B4-BE49-F238E27FC236}">
                <a16:creationId xmlns:a16="http://schemas.microsoft.com/office/drawing/2014/main" id="{B30D7CDC-2831-DA45-ECAB-DEAC9CED1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203" y="1766455"/>
            <a:ext cx="4407593" cy="484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8663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E5908-441E-27BC-9E45-9858BA66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E06980-EFBE-7D14-99AB-28FBA842B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Terminazione forzata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2BB85F6-3797-2A92-53F8-E695C3B7552C}"/>
              </a:ext>
            </a:extLst>
          </p:cNvPr>
          <p:cNvSpPr txBox="1"/>
          <p:nvPr/>
        </p:nvSpPr>
        <p:spPr>
          <a:xfrm>
            <a:off x="7976047" y="3650206"/>
            <a:ext cx="262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Diagramma delle attività</a:t>
            </a:r>
          </a:p>
        </p:txBody>
      </p:sp>
      <p:cxnSp>
        <p:nvCxnSpPr>
          <p:cNvPr id="26" name="Connettore diritto 25">
            <a:extLst>
              <a:ext uri="{FF2B5EF4-FFF2-40B4-BE49-F238E27FC236}">
                <a16:creationId xmlns:a16="http://schemas.microsoft.com/office/drawing/2014/main" id="{4C0AB0BC-B3F8-D29D-3656-741B3EDBD64E}"/>
              </a:ext>
            </a:extLst>
          </p:cNvPr>
          <p:cNvCxnSpPr>
            <a:cxnSpLocks/>
          </p:cNvCxnSpPr>
          <p:nvPr/>
        </p:nvCxnSpPr>
        <p:spPr>
          <a:xfrm>
            <a:off x="6585995" y="1903116"/>
            <a:ext cx="0" cy="53079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ttore diritto 27">
            <a:extLst>
              <a:ext uri="{FF2B5EF4-FFF2-40B4-BE49-F238E27FC236}">
                <a16:creationId xmlns:a16="http://schemas.microsoft.com/office/drawing/2014/main" id="{95719C5C-EA39-3DE9-798A-3380A20CF5CB}"/>
              </a:ext>
            </a:extLst>
          </p:cNvPr>
          <p:cNvCxnSpPr/>
          <p:nvPr/>
        </p:nvCxnSpPr>
        <p:spPr>
          <a:xfrm>
            <a:off x="6585995" y="4366260"/>
            <a:ext cx="57965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56BECFE-E0A1-2E02-E6B5-F6D4BC6054C9}"/>
              </a:ext>
            </a:extLst>
          </p:cNvPr>
          <p:cNvSpPr txBox="1"/>
          <p:nvPr/>
        </p:nvSpPr>
        <p:spPr>
          <a:xfrm>
            <a:off x="6859924" y="4557072"/>
            <a:ext cx="28143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DELETE /pratiche/cancellazione</a:t>
            </a:r>
          </a:p>
          <a:p>
            <a:r>
              <a:rPr lang="it-IT" sz="1200" dirty="0" err="1"/>
              <a:t>Headers</a:t>
            </a:r>
            <a:endParaRPr lang="it-IT" sz="1200" dirty="0"/>
          </a:p>
          <a:p>
            <a:r>
              <a:rPr lang="it-IT" sz="1200" dirty="0"/>
              <a:t>{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Authorization</a:t>
            </a:r>
            <a:r>
              <a:rPr lang="it-IT" sz="1200" dirty="0"/>
              <a:t>: </a:t>
            </a:r>
            <a:r>
              <a:rPr lang="it-IT" sz="1200" dirty="0" err="1"/>
              <a:t>Bearer</a:t>
            </a:r>
            <a:r>
              <a:rPr lang="it-IT" sz="1200" dirty="0"/>
              <a:t> &lt;token&gt;</a:t>
            </a:r>
          </a:p>
          <a:p>
            <a:r>
              <a:rPr lang="it-IT" sz="1200" dirty="0"/>
              <a:t>}</a:t>
            </a:r>
          </a:p>
          <a:p>
            <a:r>
              <a:rPr lang="it-IT" sz="1200" dirty="0"/>
              <a:t>Data</a:t>
            </a:r>
          </a:p>
          <a:p>
            <a:r>
              <a:rPr lang="it-IT" sz="1200" dirty="0"/>
              <a:t>{</a:t>
            </a:r>
          </a:p>
          <a:p>
            <a:r>
              <a:rPr lang="it-IT" sz="1200" dirty="0"/>
              <a:t>        </a:t>
            </a:r>
            <a:r>
              <a:rPr lang="it-IT" sz="1200" dirty="0" err="1"/>
              <a:t>IdPratica</a:t>
            </a:r>
            <a:r>
              <a:rPr lang="it-IT" sz="1200" dirty="0"/>
              <a:t>: ‘</a:t>
            </a:r>
            <a:r>
              <a:rPr lang="it-IT" sz="1200" dirty="0" err="1"/>
              <a:t>int</a:t>
            </a:r>
            <a:r>
              <a:rPr lang="it-IT" sz="1200" dirty="0"/>
              <a:t>’</a:t>
            </a:r>
          </a:p>
          <a:p>
            <a:r>
              <a:rPr lang="it-IT" sz="1200" dirty="0"/>
              <a:t>        Codice: ‘</a:t>
            </a:r>
            <a:r>
              <a:rPr lang="it-IT" sz="1200" dirty="0" err="1"/>
              <a:t>int</a:t>
            </a:r>
            <a:r>
              <a:rPr lang="it-IT" sz="1200" dirty="0"/>
              <a:t>’</a:t>
            </a:r>
          </a:p>
          <a:p>
            <a:r>
              <a:rPr lang="it-IT" sz="1200" dirty="0"/>
              <a:t>}</a:t>
            </a:r>
          </a:p>
          <a:p>
            <a:endParaRPr lang="it-IT" sz="1200" dirty="0"/>
          </a:p>
          <a:p>
            <a:endParaRPr lang="it-IT" sz="12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221AE45-0975-8CF1-2F6A-ABD6D7B9E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88"/>
          <a:stretch>
            <a:fillRect/>
          </a:stretch>
        </p:blipFill>
        <p:spPr>
          <a:xfrm>
            <a:off x="521208" y="2687404"/>
            <a:ext cx="5906242" cy="2664267"/>
          </a:xfrm>
          <a:prstGeom prst="rect">
            <a:avLst/>
          </a:prstGeom>
        </p:spPr>
      </p:pic>
      <p:pic>
        <p:nvPicPr>
          <p:cNvPr id="9" name="Immagine 8" descr="Immagine che contiene diagramma, line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236C42BB-1366-05F5-82A4-AB8F8A78B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541" y="1766455"/>
            <a:ext cx="5242767" cy="183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16864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296CF-4BD2-59DE-EC80-20EF7C24B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8D1313-D35D-2471-445D-2B5425E69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8047"/>
          </a:xfrm>
        </p:spPr>
        <p:txBody>
          <a:bodyPr/>
          <a:lstStyle/>
          <a:p>
            <a:r>
              <a:rPr lang="it-IT" dirty="0"/>
              <a:t>Terminazione forzata</a:t>
            </a:r>
          </a:p>
        </p:txBody>
      </p:sp>
      <p:pic>
        <p:nvPicPr>
          <p:cNvPr id="4" name="Immagine 3" descr="Immagine che contiene testo, diagramma, schermata, Parallelo&#10;&#10;Il contenuto generato dall'IA potrebbe non essere corretto.">
            <a:extLst>
              <a:ext uri="{FF2B5EF4-FFF2-40B4-BE49-F238E27FC236}">
                <a16:creationId xmlns:a16="http://schemas.microsoft.com/office/drawing/2014/main" id="{62BA02E6-E74A-358F-1147-04153FADD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581" y="1766455"/>
            <a:ext cx="4094837" cy="478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1157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1EAE07-AFA5-A155-4D28-36939FCE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600" dirty="0"/>
              <a:t>Use case </a:t>
            </a:r>
            <a:r>
              <a:rPr lang="it-IT" sz="3600" dirty="0" err="1"/>
              <a:t>diagram</a:t>
            </a:r>
            <a:r>
              <a:rPr lang="it-IT" sz="3600" dirty="0"/>
              <a:t> e matrice di tracciabilità</a:t>
            </a:r>
          </a:p>
        </p:txBody>
      </p:sp>
      <p:pic>
        <p:nvPicPr>
          <p:cNvPr id="5" name="Segnaposto contenuto 4" descr="Immagine che contiene diagramma, testo, linea, cerchio&#10;&#10;Il contenuto generato dall'IA potrebbe non essere corretto.">
            <a:extLst>
              <a:ext uri="{FF2B5EF4-FFF2-40B4-BE49-F238E27FC236}">
                <a16:creationId xmlns:a16="http://schemas.microsoft.com/office/drawing/2014/main" id="{C1742C79-F6DD-AAC6-2E59-816DE892D7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835" y="1773561"/>
            <a:ext cx="3941645" cy="4759172"/>
          </a:xfrm>
        </p:spPr>
      </p:pic>
      <p:pic>
        <p:nvPicPr>
          <p:cNvPr id="7" name="Immagine 6" descr="Immagine che contiene testo, schermata, numero, Carattere&#10;&#10;Il contenuto generato dall'IA potrebbe non essere corretto.">
            <a:extLst>
              <a:ext uri="{FF2B5EF4-FFF2-40B4-BE49-F238E27FC236}">
                <a16:creationId xmlns:a16="http://schemas.microsoft.com/office/drawing/2014/main" id="{7A940BDA-D3C0-FCB5-C98F-8A7F583B5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" t="1840"/>
          <a:stretch>
            <a:fillRect/>
          </a:stretch>
        </p:blipFill>
        <p:spPr>
          <a:xfrm>
            <a:off x="5835955" y="2821191"/>
            <a:ext cx="5300457" cy="214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72779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ddc73d-733b-49dc-a14a-39b90208596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E77DFA4CCBE5649BA5D113F880B324D" ma:contentTypeVersion="6" ma:contentTypeDescription="Creare un nuovo documento." ma:contentTypeScope="" ma:versionID="46dba0a7fb86d6f855b41dc28b9d4c6f">
  <xsd:schema xmlns:xsd="http://www.w3.org/2001/XMLSchema" xmlns:xs="http://www.w3.org/2001/XMLSchema" xmlns:p="http://schemas.microsoft.com/office/2006/metadata/properties" xmlns:ns3="30ddc73d-733b-49dc-a14a-39b902085969" targetNamespace="http://schemas.microsoft.com/office/2006/metadata/properties" ma:root="true" ma:fieldsID="d66fd1effda8dea0b66983734b0c2d4b" ns3:_="">
    <xsd:import namespace="30ddc73d-733b-49dc-a14a-39b90208596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dc73d-733b-49dc-a14a-39b9020859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BD547B-72F3-4335-9507-7FED9FB802FA}">
  <ds:schemaRefs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30ddc73d-733b-49dc-a14a-39b902085969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EF06682-99F6-4140-8238-CE9BFCA80F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ddc73d-733b-49dc-a14a-39b9020859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A1BB26-A444-47D3-A7BA-EAA1821FFC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472</Words>
  <Application>Microsoft Office PowerPoint</Application>
  <PresentationFormat>Widescreen</PresentationFormat>
  <Paragraphs>104</Paragraphs>
  <Slides>17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1" baseType="lpstr">
      <vt:lpstr>Aptos</vt:lpstr>
      <vt:lpstr>Arial</vt:lpstr>
      <vt:lpstr>Bierstadt</vt:lpstr>
      <vt:lpstr>GestaltVTI</vt:lpstr>
      <vt:lpstr>uniGEST Sviluppo frontend</vt:lpstr>
      <vt:lpstr>Struttura delle pagine</vt:lpstr>
      <vt:lpstr>Login</vt:lpstr>
      <vt:lpstr>Login</vt:lpstr>
      <vt:lpstr>Visualizzazione pratiche</vt:lpstr>
      <vt:lpstr>Visualizzazione pratiche</vt:lpstr>
      <vt:lpstr>Creazione Nuova Pratica </vt:lpstr>
      <vt:lpstr>Creazione Nuova Pratica </vt:lpstr>
      <vt:lpstr>Assegnazione della pratica</vt:lpstr>
      <vt:lpstr>Assegnazione della pratica</vt:lpstr>
      <vt:lpstr>Caricamento dei file</vt:lpstr>
      <vt:lpstr>Caricamento dei file</vt:lpstr>
      <vt:lpstr>Eliminazione delle pratiche</vt:lpstr>
      <vt:lpstr>Eliminazione delle pratiche</vt:lpstr>
      <vt:lpstr>Terminazione forzata</vt:lpstr>
      <vt:lpstr>Terminazione forzata</vt:lpstr>
      <vt:lpstr>Use case diagram e matrice di tracciabilità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Mathias BARTOLACELLI</dc:creator>
  <cp:lastModifiedBy>Mathias BARTOLACELLI</cp:lastModifiedBy>
  <cp:revision>6</cp:revision>
  <dcterms:created xsi:type="dcterms:W3CDTF">2025-07-09T13:11:16Z</dcterms:created>
  <dcterms:modified xsi:type="dcterms:W3CDTF">2025-07-14T08:35:19Z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0x010100FE77DFA4CCBE5649BA5D113F880B324D</vt:lpwstr>
  </property>
</Properties>
</file>